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(Train)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0.95</c:v>
                </c:pt>
                <c:pt idx="2">
                  <c:v>0.97499999999999998</c:v>
                </c:pt>
                <c:pt idx="3">
                  <c:v>0.97499999999999998</c:v>
                </c:pt>
                <c:pt idx="4">
                  <c:v>0.98750000000000004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77-481A-A0CB-55DB45F906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(Val)</c:v>
                </c:pt>
              </c:strCache>
            </c:strRef>
          </c:tx>
          <c:spPr>
            <a:ln w="38100" cap="flat">
              <a:solidFill>
                <a:srgbClr val="5AB1B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AB1BB"/>
              </a:solidFill>
              <a:ln w="9525" cap="flat">
                <a:solidFill>
                  <a:srgbClr val="5AB1BB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0.85</c:v>
                </c:pt>
                <c:pt idx="1">
                  <c:v>0.95</c:v>
                </c:pt>
                <c:pt idx="2">
                  <c:v>0.95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77-481A-A0CB-55DB45F906A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2"/>
          <c:min val="0.7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Accuracy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(Train)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0.95</c:v>
                </c:pt>
                <c:pt idx="2">
                  <c:v>0.97499999999999998</c:v>
                </c:pt>
                <c:pt idx="3">
                  <c:v>0.97499999999999998</c:v>
                </c:pt>
                <c:pt idx="4">
                  <c:v>0.98750000000000004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EA-4A0A-A0DB-F7027E12A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(Val)</c:v>
                </c:pt>
              </c:strCache>
            </c:strRef>
          </c:tx>
          <c:spPr>
            <a:ln w="38100" cap="flat">
              <a:solidFill>
                <a:srgbClr val="5AB1B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AB1BB"/>
              </a:solidFill>
              <a:ln w="9525" cap="flat">
                <a:solidFill>
                  <a:srgbClr val="5AB1BB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0.85</c:v>
                </c:pt>
                <c:pt idx="1">
                  <c:v>0.95</c:v>
                </c:pt>
                <c:pt idx="2">
                  <c:v>0.95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EA-4A0A-A0DB-F7027E12AFE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2"/>
          <c:min val="0.7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Accuracy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 (Train)</c:v>
                </c:pt>
              </c:strCache>
            </c:strRef>
          </c:tx>
          <c:spPr>
            <a:ln w="38100" cap="flat">
              <a:solidFill>
                <a:srgbClr val="2129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0.129965</c:v>
                </c:pt>
                <c:pt idx="1">
                  <c:v>3.4548000000000002E-2</c:v>
                </c:pt>
                <c:pt idx="2">
                  <c:v>2.299E-2</c:v>
                </c:pt>
                <c:pt idx="3">
                  <c:v>1.6535000000000001E-2</c:v>
                </c:pt>
                <c:pt idx="4">
                  <c:v>1.2222E-2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8D-4409-940B-FE739AD927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MSE (Val)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9.0967999999999993E-2</c:v>
                </c:pt>
                <c:pt idx="1">
                  <c:v>6.0245E-2</c:v>
                </c:pt>
                <c:pt idx="2">
                  <c:v>4.2969E-2</c:v>
                </c:pt>
                <c:pt idx="3">
                  <c:v>3.2918000000000003E-2</c:v>
                </c:pt>
                <c:pt idx="4">
                  <c:v>2.6561000000000001E-2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8D-4409-940B-FE739AD927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4000000000000001"/>
          <c:min val="0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MSE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 (Train)</c:v>
                </c:pt>
              </c:strCache>
            </c:strRef>
          </c:tx>
          <c:spPr>
            <a:ln w="38100" cap="flat">
              <a:solidFill>
                <a:srgbClr val="2129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0.129965</c:v>
                </c:pt>
                <c:pt idx="1">
                  <c:v>3.4548000000000002E-2</c:v>
                </c:pt>
                <c:pt idx="2">
                  <c:v>2.299E-2</c:v>
                </c:pt>
                <c:pt idx="3">
                  <c:v>1.6535000000000001E-2</c:v>
                </c:pt>
                <c:pt idx="4">
                  <c:v>1.2222E-2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D9-45B8-ABCF-84B5762581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MSE (Val)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03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9.0967999999999993E-2</c:v>
                </c:pt>
                <c:pt idx="1">
                  <c:v>6.0245E-2</c:v>
                </c:pt>
                <c:pt idx="2">
                  <c:v>4.2969E-2</c:v>
                </c:pt>
                <c:pt idx="3">
                  <c:v>3.2918000000000003E-2</c:v>
                </c:pt>
                <c:pt idx="4">
                  <c:v>2.6561000000000001E-2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D9-45B8-ABCF-84B57625810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4000000000000001"/>
          <c:min val="0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MSE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65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1206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A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PEMBELAJARAN MESIN MENDALAM LANJUT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Layer Perceptron: Klasifikasi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Setosa vs Versicolor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&amp; verifikasi model perceptron (sigmoid, online gradient descent)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 Google Sheet dan kode Python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19050">
            <a:solidFill>
              <a:srgbClr val="5AB1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	: </a:t>
            </a:r>
            <a:r>
              <a:rPr lang="en-US" sz="1500" b="1" i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</a:t>
            </a:r>
            <a:r>
              <a:rPr lang="en-US" sz="1500" b="1" i="1" dirty="0" err="1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Syakirah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2852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5A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	: </a:t>
            </a:r>
            <a:r>
              <a:rPr lang="en-ID" sz="1600" dirty="0">
                <a:solidFill>
                  <a:schemeClr val="bg1"/>
                </a:solidFill>
              </a:rPr>
              <a:t>25/573284/PPA/07217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GOOGLE SHEET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Akurasi per Epoch — Training vs Validasi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0876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50876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1031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training naik tajam dari 85% (epoch 1) menjadi 95% (epoch 2), lalu melandai menuju 98,75% di epoch 5 — tanda model cepat menemukan batas keputusan.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validasi mengikuti pola serupa dan mencapai 100% mulai epoch 4, menunjukkan model tergeneralisasi dengan baik pada data yang belum pernah dilihat.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training &amp; validasi berdekatan di setiap epoch → tidak ada indikasi overfitting.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KODE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Akurasi per Epoch — Hasil Replikasi Python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0876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50876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KECOCOKAN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1031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Python (fungsi sigmoid, forward pass, gradient descent per-sampel) diverifikasi baris-per-baris terhadap formula pada sheet SLP-Training / SLP-Validation.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akurasi per epoch pada grafik ini identik 100% dengan grafik pada Google Sheet (halaman sebelumnya) di kelima epoch, untuk data training maupun validasi.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membuktikan implementasi Python merepresentasikan model Excel/Gsheet dengan tepat, bukan sekadar mendekati.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GOOGLE SHEET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Loss (MSE) per Epoch — Training vs Validasi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0876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50876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1031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training turun tajam dari 0,130 (epoch 1) menjadi 0,035 (epoch 2), lalu menurun landai hingga 0,012 di epoch 5 — pola konvergensi gradient descent yang khas.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validasi selalu sedikit lebih tinggi dari training (0,091 → 0,027), namun trennya menurun sejalan dengan training di setiap epoch.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train-val loss yang kecil dan konsisten menegaskan model belajar pola umum data, bukan menghafal data training (tidak overfitting).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KODE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Loss (MSE) per Epoch — Hasil Replikasi Python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0876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50876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KECOCOKAN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10312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MSE per epoch dari kode Python identik dengan nilai pada Google Sheet untuk training maupun validasi di seluruh 5 epoch.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Kesamaan ini didapat setelah menelusuri seluruh formula turunan (gradient) dan pembaruan bobot (weight update) satu per satu dari sheet SLP-Training / SLP-Validation ke dalam fungsi Python.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Kecocokan penuh ini menjadi bukti validitas implementasi model perceptron secara matematis, bukan hanya kemiripan visual grafik.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A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TAUTAN PROYEK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 &amp; Kode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AB1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29260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(https://docs.google.com/spreadsheets/d/1df6jwg2gOALpWC236UPvfNfYgnFMD9QgH31Al3tOF2k/edit?usp=sharing)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AB1BB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617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(https://github.com/stsyaakirah/Klasifikasi-Iris-Setosa-vs-Versicolor-menggunakan-SLP)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Pustaka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Rosenblatt, F. (1958). The perceptron: A probabilistic model for information storage and organization in the brain. Psychological Review, 65(6), 386–408.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R. A. (1936). The use of multiple measurements in taxonomic problems. Annals of Eugenics, 7(2), 179–188. (Sumber asli dataset Iris.)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D., &amp; Graff, C. (2019). Iris Data Set. UCI Machine Learning Repository, University of California, Irvine.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 (Rujukan fungsi aktivasi sigmoid, loss function, dan gradient descent.)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Han, J., Kamber, M., &amp; Pei, J. (2011). Data Mining: Concepts and Techniques (3rd ed.). Morgan Kaufmann. (Rujukan interpretasi kurva akurasi dan loss training vs validasi.)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Raschka, S., &amp; Mirjalili, V. (2019). Python Machine Learning (3rd ed.). Packt Publishing. (Rujukan implementasi perceptron &amp; online gradient descent dalam Python.)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— Klasifikasi Iris Setosa vs Versicolor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721</Words>
  <Application>Microsoft Office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Shin Kim</cp:lastModifiedBy>
  <cp:revision>2</cp:revision>
  <dcterms:created xsi:type="dcterms:W3CDTF">2026-09-17T19:42:14Z</dcterms:created>
  <dcterms:modified xsi:type="dcterms:W3CDTF">2026-09-17T19:59:22Z</dcterms:modified>
</cp:coreProperties>
</file>